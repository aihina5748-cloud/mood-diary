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53df0a253c4cc4" /><Relationship Type="http://schemas.openxmlformats.org/officeDocument/2006/relationships/extended-properties" Target="/docProps/app.xml" Id="R0fbed1dae4ff4fce" /><Relationship Type="http://schemas.openxmlformats.org/officeDocument/2006/relationships/officeDocument" Target="/ppt/presentation.xml" Id="R4ad283e58ab846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8a73ab4e3f40d4"/>
  </p:sldMasterIdLst>
  <p:notesMasterIdLst>
    <p:notesMasterId xmlns:r="http://schemas.openxmlformats.org/officeDocument/2006/relationships" r:id="R538bcb10a26647ef"/>
  </p:notesMasterIdLst>
  <p:sldIdLst>
    <p:sldId xmlns:r="http://schemas.openxmlformats.org/officeDocument/2006/relationships" id="256" r:id="R946e404b5c724add"/>
    <p:sldId xmlns:r="http://schemas.openxmlformats.org/officeDocument/2006/relationships" id="257" r:id="Ra5e3c599e35f4044"/>
    <p:sldId xmlns:r="http://schemas.openxmlformats.org/officeDocument/2006/relationships" id="258" r:id="R509442e88f1c4a19"/>
    <p:sldId xmlns:r="http://schemas.openxmlformats.org/officeDocument/2006/relationships" id="259" r:id="Rcc1811092c144c14"/>
    <p:sldId xmlns:r="http://schemas.openxmlformats.org/officeDocument/2006/relationships" id="260" r:id="R7225c66dfb6f419f"/>
    <p:sldId xmlns:r="http://schemas.openxmlformats.org/officeDocument/2006/relationships" id="261" r:id="R8649d578ff554f25"/>
    <p:sldId xmlns:r="http://schemas.openxmlformats.org/officeDocument/2006/relationships" id="262" r:id="R7dd77702207747c8"/>
    <p:sldId xmlns:r="http://schemas.openxmlformats.org/officeDocument/2006/relationships" id="263" r:id="R69f05cea350b49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674a83f4dd499f" /><Relationship Type="http://schemas.openxmlformats.org/officeDocument/2006/relationships/slideMaster" Target="/ppt/slideMasters/slideMaster1.xml" Id="R4f8a73ab4e3f40d4" /><Relationship Type="http://schemas.openxmlformats.org/officeDocument/2006/relationships/notesMaster" Target="/ppt/notesMasters/notesMaster1.xml" Id="R538bcb10a26647ef" /><Relationship Type="http://schemas.openxmlformats.org/officeDocument/2006/relationships/presProps" Target="/ppt/presProps.xml" Id="R343d0fc789a14430" /><Relationship Type="http://schemas.openxmlformats.org/officeDocument/2006/relationships/tableStyles" Target="/ppt/tableStyles.xml" Id="R5bed335662f34ffc" /><Relationship Type="http://schemas.openxmlformats.org/officeDocument/2006/relationships/slide" Target="/ppt/slides/slide1.xml" Id="R946e404b5c724add" /><Relationship Type="http://schemas.openxmlformats.org/officeDocument/2006/relationships/slide" Target="/ppt/slides/slide2.xml" Id="Ra5e3c599e35f4044" /><Relationship Type="http://schemas.openxmlformats.org/officeDocument/2006/relationships/slide" Target="/ppt/slides/slide3.xml" Id="R509442e88f1c4a19" /><Relationship Type="http://schemas.openxmlformats.org/officeDocument/2006/relationships/slide" Target="/ppt/slides/slide4.xml" Id="Rcc1811092c144c14" /><Relationship Type="http://schemas.openxmlformats.org/officeDocument/2006/relationships/slide" Target="/ppt/slides/slide5.xml" Id="R7225c66dfb6f419f" /><Relationship Type="http://schemas.openxmlformats.org/officeDocument/2006/relationships/slide" Target="/ppt/slides/slide6.xml" Id="R8649d578ff554f25" /><Relationship Type="http://schemas.openxmlformats.org/officeDocument/2006/relationships/slide" Target="/ppt/slides/slide7.xml" Id="R7dd77702207747c8" /><Relationship Type="http://schemas.openxmlformats.org/officeDocument/2006/relationships/slide" Target="/ppt/slides/slide8.xml" Id="R69f05cea350b49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3035b627454a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cd345abfe648ca" /><Relationship Type="http://schemas.openxmlformats.org/officeDocument/2006/relationships/notesMaster" Target="/ppt/notesMasters/notesMaster1.xml" Id="Rf7a76941f89444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a583fb03a0411f" /><Relationship Type="http://schemas.openxmlformats.org/officeDocument/2006/relationships/notesMaster" Target="/ppt/notesMasters/notesMaster1.xml" Id="Rba221286d40e4a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dad85c5aff4f79" /><Relationship Type="http://schemas.openxmlformats.org/officeDocument/2006/relationships/notesMaster" Target="/ppt/notesMasters/notesMaster1.xml" Id="R46dd809be22d4e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e2fc88ebbe4de2" /><Relationship Type="http://schemas.openxmlformats.org/officeDocument/2006/relationships/notesMaster" Target="/ppt/notesMasters/notesMaster1.xml" Id="R2eff08c7b8ce47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6860928f0f4ee6" /><Relationship Type="http://schemas.openxmlformats.org/officeDocument/2006/relationships/notesMaster" Target="/ppt/notesMasters/notesMaster1.xml" Id="R92d22be2927240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457d90c3eb4242" /><Relationship Type="http://schemas.openxmlformats.org/officeDocument/2006/relationships/notesMaster" Target="/ppt/notesMasters/notesMaster1.xml" Id="R78503ed1efc546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0a48e6e77e4af1" /><Relationship Type="http://schemas.openxmlformats.org/officeDocument/2006/relationships/notesMaster" Target="/ppt/notesMasters/notesMaster1.xml" Id="R9d8ba45cb8644f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cf328109f94fbc" /><Relationship Type="http://schemas.openxmlformats.org/officeDocument/2006/relationships/notesMaster" Target="/ppt/notesMasters/notesMaster1.xml" Id="R2a938f90fee546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안녕하세요. 제가 기획한 웹서비스 이름은 친구의 문입니다.</a:t>
            </a:r>
          </a:p>
          <a:p xmlns:a="http://schemas.openxmlformats.org/drawingml/2006/main">
            <a:r>
              <a:t>언어치료 시간에 아이가 놀이 상황에 맞는 말을 선택하고, 그 결과를 확인하도록 돕는 서비스입니다.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 사용자는 언어지연이나 장애가 있는 학령기 전 아동입니다.</a:t>
            </a:r>
          </a:p>
          <a:p xmlns:a="http://schemas.openxmlformats.org/drawingml/2006/main">
            <a:r>
              <a:t>놀이 상황에서 어떤 말을 골라야 하는지 어려운 순간을 연습하도록 기획했습니다.</a:t>
            </a:r>
          </a:p>
          <a:p xmlns:a="http://schemas.openxmlformats.org/drawingml/2006/main">
            <a:r>
              <a:t>치료사는 답을 대신 고르지 않고 아동의 선택과 반응을 관찰합니다.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가장 중요한 기능은 선택한 말에 따라 친구의 반응이 달라지는 것입니다.</a:t>
            </a:r>
          </a:p>
          <a:p xmlns:a="http://schemas.openxmlformats.org/drawingml/2006/main">
            <a:r>
              <a:t>아동은 상황을 보고 다섯 개의 답변 중 하나를 고릅니다.</a:t>
            </a:r>
          </a:p>
          <a:p xmlns:a="http://schemas.openxmlformats.org/drawingml/2006/main">
            <a:r>
              <a:t>친구의 반응을 본 뒤 다음 대화로 넘어가거나 다시 말해볼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적절한 답변을 고르면 친구가 이해하고 놀이가 계속됩니다.</a:t>
            </a:r>
          </a:p>
          <a:p xmlns:a="http://schemas.openxmlformats.org/drawingml/2006/main">
            <a:r>
              <a:t>적절하지 않은 답변에서는 친구가 짜증, 분노, 울음, 자리 피하기 같은 반응을 보일 수 있습니다.</a:t>
            </a:r>
          </a:p>
          <a:p xmlns:a="http://schemas.openxmlformats.org/drawingml/2006/main">
            <a:r>
              <a:t>이 반응은 벌이 아닙니다. 상대의 감정을 확인한 뒤 이렇게 말하면 어떨까 도움을 보고 다시 선택합니다.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에피소드에는 대화를 최소 세 번 넣습니다.</a:t>
            </a:r>
          </a:p>
          <a:p xmlns:a="http://schemas.openxmlformats.org/drawingml/2006/main">
            <a:r>
              <a:t>첫 번째 대답의 결과가 다음 상황에 이어지기 때문에 단순한 정답 문제가 아닙니다.</a:t>
            </a:r>
          </a:p>
          <a:p xmlns:a="http://schemas.openxmlformats.org/drawingml/2006/main">
            <a:r>
              <a:t>오답이 나오면 같은 차례에서 다시 선택하고, 친구와 관계가 회복되면 다음 차례로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에피소드가 끝나면 정답 개수만 보여주지 않습니다.</a:t>
            </a:r>
          </a:p>
          <a:p xmlns:a="http://schemas.openxmlformats.org/drawingml/2006/main">
            <a:r>
              <a:t>현재 기분, 친구가 화냈을 때의 느낌, 다시 말하고 싶은 문장을 차례로 질문합니다.</a:t>
            </a:r>
          </a:p>
          <a:p xmlns:a="http://schemas.openxmlformats.org/drawingml/2006/main">
            <a:r>
              <a:t>아동이 먼저 생각한 뒤 필요할 때만 예시 문장을 열어봅니다.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화면은 시작, 친구 선택, 에피소드 소개, 상황과 답변 순서로 진행합니다.</a:t>
            </a:r>
          </a:p>
          <a:p xmlns:a="http://schemas.openxmlformats.org/drawingml/2006/main">
            <a:r>
              <a:t>오답이면 결과 재연과 도움 화면을 거쳐 다시 선택합니다.</a:t>
            </a:r>
          </a:p>
          <a:p xmlns:a="http://schemas.openxmlformats.org/drawingml/2006/main">
            <a:r>
              <a:t>모바일 세로 화면을 기준으로 글자와 버튼을 크게 만들고 과도한 자극은 사용하지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순서에 맞게 기획안을 먼저 확정하고 PRD를 작성합니다.</a:t>
            </a:r>
          </a:p>
          <a:p xmlns:a="http://schemas.openxmlformats.org/drawingml/2006/main">
            <a:r>
              <a:t>PRD를 확인한 뒤 개발하고, 정답과 오답 흐름을 테스트합니다.</a:t>
            </a:r>
          </a:p>
          <a:p xmlns:a="http://schemas.openxmlformats.org/drawingml/2006/main">
            <a:r>
              <a:t>마지막으로 모바일 화면과 오류를 확인한 뒤 제출합니다.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262c2ae584d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cd8f73b73a4e98" /><Relationship Type="http://schemas.openxmlformats.org/officeDocument/2006/relationships/slideLayout" Target="/ppt/slideLayouts/slideLayout1.xml" Id="Rdfef0dee69eb4a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ef0dee69eb4a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7bd254f9e442a" /><Relationship Type="http://schemas.openxmlformats.org/officeDocument/2006/relationships/image" Target="/ppt/media/image.png" Id="Rab1ef44ac75d4fac" /><Relationship Type="http://schemas.openxmlformats.org/officeDocument/2006/relationships/notesSlide" Target="/ppt/notesSlides/notesSlide1.xml" Id="R24620ecdb94a49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59584186542e7" /><Relationship Type="http://schemas.openxmlformats.org/officeDocument/2006/relationships/notesSlide" Target="/ppt/notesSlides/notesSlide2.xml" Id="R16f8a8b8c0324d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9de19c98f4163" /><Relationship Type="http://schemas.openxmlformats.org/officeDocument/2006/relationships/image" Target="/ppt/media/image2.png" Id="R16157e5638b7464e" /><Relationship Type="http://schemas.openxmlformats.org/officeDocument/2006/relationships/notesSlide" Target="/ppt/notesSlides/notesSlide3.xml" Id="R5b1e42070b404b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f21b88f7f40e0" /><Relationship Type="http://schemas.openxmlformats.org/officeDocument/2006/relationships/image" Target="/ppt/media/image3.png" Id="Rc42cb7071ed744cc" /><Relationship Type="http://schemas.openxmlformats.org/officeDocument/2006/relationships/notesSlide" Target="/ppt/notesSlides/notesSlide4.xml" Id="R7eeefb18af7642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c3c7346fa4954" /><Relationship Type="http://schemas.openxmlformats.org/officeDocument/2006/relationships/notesSlide" Target="/ppt/notesSlides/notesSlide5.xml" Id="R06220a2d5e974e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60d4113b54d1c" /><Relationship Type="http://schemas.openxmlformats.org/officeDocument/2006/relationships/notesSlide" Target="/ppt/notesSlides/notesSlide6.xml" Id="R419caa8ef30e43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6f07c981c4a18" /><Relationship Type="http://schemas.openxmlformats.org/officeDocument/2006/relationships/notesSlide" Target="/ppt/notesSlides/notesSlide7.xml" Id="R0116f97942c046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a317d5023489e" /><Relationship Type="http://schemas.openxmlformats.org/officeDocument/2006/relationships/notesSlide" Target="/ppt/notesSlides/notesSlide8.xml" Id="Ref40ef8b197044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9516B-E4D4-4627-99D9-BEA002F7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A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72D77-FBA9-41C4-879E-20A9556C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42950"/>
            <a:ext cx="3857625" cy="5391150"/>
          </a:xfrm>
          <a:prstGeom xmlns:a="http://schemas.openxmlformats.org/drawingml/2006/main" prst="roundRect">
            <a:avLst>
              <a:gd name="adj" fmla="val 8395"/>
            </a:avLst>
          </a:prstGeom>
          <a:solidFill xmlns:a="http://schemas.openxmlformats.org/drawingml/2006/main">
            <a:srgbClr val="E5F3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73942-DCDE-48EE-9460-9FFF3ADC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나만의 웹서비스 기획 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633EB-5AD6-4471-8EAC-B9590E35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619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친구의 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F175C-6F71-433E-9903-7B61BEF5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놀이 상황에서 알맞은 말을 선택하는</a:t>
            </a:r>
          </a:p>
          <a:p xmlns:a="http://schemas.openxmlformats.org/drawingml/2006/main">
            <a:pPr algn="l">
              <a:defRPr sz="21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언어치료 웹서비스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AD715-4F93-4FD9-994A-C81D51E6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595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대상  언어지연 또는 장애가 있는 학령기 전 아동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E47E6-F89E-482D-A7CB-7784394E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rPr>
              <a:t>가칭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ef44ac75d4fac"/>
          <a:stretch xmlns:a="http://schemas.openxmlformats.org/drawingml/2006/main"/>
        </p:blipFill>
        <p:spPr>
          <a:xfrm xmlns:a="http://schemas.openxmlformats.org/drawingml/2006/main">
            <a:off x="7715250" y="1785938"/>
            <a:ext cx="3381375" cy="3381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8055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6ADF2-0125-4EA0-8A17-04F14413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사용자와 문제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46CA8-6836-4F68-876D-A97B0F9F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F87AB-1779-4DBE-BB0C-003F3A07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B1729-A1C3-4693-8E7A-B55A57D6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A89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AA899"/>
                </a:solidFill>
                <a:latin typeface="Malgun Gothic"/>
                <a:ea typeface="Malgun Gothic"/>
                <a:cs typeface="Malgun Gothic"/>
              </a:rPr>
              <a:t>사용자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3B5E0-FAC5-47DF-ACA9-490E4D0D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언어지연 또는 장애가 있는</a:t>
            </a:r>
          </a:p>
          <a:p xmlns:a="http://schemas.openxmlformats.org/drawingml/2006/main">
            <a:pPr algn="l">
              <a:def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학령기 전 아동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8EB13-E9CB-4AEA-8FF7-8CC39B13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381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5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117E6-223E-449F-9F15-B457A5F6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04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rPr>
              <a:t>해결하려는 문제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175C4-F2A0-45C4-A09B-9A4477A2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85950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놀이 중 상대의 말은 들었지만</a:t>
            </a:r>
          </a:p>
          <a:p xmlns:a="http://schemas.openxmlformats.org/drawingml/2006/main">
            <a:pPr algn="l">
              <a:defRPr sz="23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어떻게 대답해야 할지</a:t>
            </a:r>
          </a:p>
          <a:p xmlns:a="http://schemas.openxmlformats.org/drawingml/2006/main">
            <a:pPr algn="l">
              <a:defRPr sz="23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선택하기 어려울 수 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55C3E-A614-4411-A399-9FA184F5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005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언어치료사는 아동에게 선택지를 보여주고,</a:t>
            </a:r>
          </a:p>
          <a:p xmlns:a="http://schemas.openxmlformats.org/drawingml/2006/main">
            <a:pPr algn="l">
              <a:defRPr sz="150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아동은 자신의 말이 친구에게 어떤 영향을 주는지 확인한다.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D504F-9643-4E82-9DBE-CE82B244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476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F7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A04E7-BB5C-44B2-87D7-B3635CA9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A89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AA899"/>
                </a:solidFill>
                <a:latin typeface="Malgun Gothic"/>
                <a:ea typeface="Malgun Gothic"/>
                <a:cs typeface="Malgun Gothic"/>
              </a:rPr>
              <a:t>사용 장소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15F7D-76BC-40A6-A4A8-99B72E2A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언어치료실에서 치료사와 함께 사용</a:t>
            </a:r>
          </a:p>
        </p:txBody>
      </p:sp>
    </p:spTree>
    <p:extLst>
      <p:ext uri="{BB962C8B-B14F-4D97-AF65-F5344CB8AC3E}">
        <p14:creationId xmlns:p14="http://schemas.microsoft.com/office/powerpoint/2010/main" val="20980917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F3E25F-AB2D-44D4-8C7C-CADAFC0C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가장 중요한 핵심 기능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F54BD-F673-4FA5-B376-B56C6DB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FA04B-4A52-4ABA-B086-8FC0E7A4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CCFAA-D6C0-43A2-94E9-838C6CB7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3943350" cy="48577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FF5C8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57e5638b7464e"/>
          <a:stretch xmlns:a="http://schemas.openxmlformats.org/drawingml/2006/main"/>
        </p:blipFill>
        <p:spPr>
          <a:xfrm xmlns:a="http://schemas.openxmlformats.org/drawingml/2006/main">
            <a:off x="1201738" y="1638300"/>
            <a:ext cx="2921000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C62A7-A962-4B9B-9F63-A415DFF6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09700"/>
            <a:ext cx="3000375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B5A22-FD99-4102-B282-84293CD0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002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“그 노란 블록도</a:t>
            </a:r>
          </a:p>
          <a:p xmlns:a="http://schemas.openxmlformats.org/drawingml/2006/main">
            <a:pPr algn="l">
              <a:defRPr sz="17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나 줘!”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496F5-48D5-4D43-8A0A-50FECDDC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57325"/>
            <a:ext cx="609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6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아동이 말을 선택하고</a:t>
            </a:r>
          </a:p>
          <a:p xmlns:a="http://schemas.openxmlformats.org/drawingml/2006/main">
            <a:pPr algn="l">
              <a:defRPr sz="255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친구의 반응을 확인한 뒤</a:t>
            </a:r>
          </a:p>
          <a:p xmlns:a="http://schemas.openxmlformats.org/drawingml/2006/main">
            <a:pPr algn="l">
              <a:defRPr sz="255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다시 대화해보는 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8E48B-59AE-460B-BA01-E9E73931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A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F76B0-4280-499E-AEA8-4935EFBE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71825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DAB6B-0246-461B-B734-77AA2691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24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상황 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187E1-1C17-49A3-849C-3ECCC192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766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상황 그림과 친구의 말을 확인한다.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94E43-C6B1-4613-B1A1-A3014EB3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D6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17F1F-1286-4519-937D-F22DB4EA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24325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533DE-0576-46E8-AB6B-F4BE2CC5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767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답변 고르기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2C0C0-B24A-4515-A9B2-DA6E8D5F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291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실제로 사용할 법한 짧은 말 5개 중 하나를 고른다.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E3B85-7953-4C6C-9792-9A2FFE8A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48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9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171E8-8FE4-40F4-B55C-42A6539C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76825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4B6EB-990B-4D72-A5D3-F90C9212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29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결과 확인하기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63E4B-86EF-4B49-8BB1-1F1DFA23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816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친구의 표정과 행동이 바뀌고 다음 대화가 이어진다.</a:t>
            </a:r>
          </a:p>
        </p:txBody>
      </p:sp>
    </p:spTree>
    <p:extLst>
      <p:ext uri="{BB962C8B-B14F-4D97-AF65-F5344CB8AC3E}">
        <p14:creationId xmlns:p14="http://schemas.microsoft.com/office/powerpoint/2010/main" val="1810161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CAA7F-9759-46FA-9D11-8F483DD1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적절한 답변과 다시 말하기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6B705-81C2-42D3-8494-972A7CE1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C511C-2C72-4620-8818-124595FB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AAB75-FF60-46AE-AFE4-62536561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A89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AA899"/>
                </a:solidFill>
                <a:latin typeface="Malgun Gothic"/>
                <a:ea typeface="Malgun Gothic"/>
                <a:cs typeface="Malgun Gothic"/>
              </a:rPr>
              <a:t>적절한 답변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254DA-B3A0-49F2-B4B2-B942D2C3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친구가 이해하거나</a:t>
            </a:r>
          </a:p>
          <a:p xmlns:a="http://schemas.openxmlformats.org/drawingml/2006/main">
            <a:pPr algn="l">
              <a:defRPr sz="22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함께 놀기를 계속한다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82EC0-CF9B-434F-9887-A5CD0C76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친구의 긍정적인 반응을 본 뒤</a:t>
            </a:r>
          </a:p>
          <a:p xmlns:a="http://schemas.openxmlformats.org/drawingml/2006/main">
            <a:pPr algn="l">
              <a:defRPr sz="150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다음 대화 차례로 이동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CD232-61C9-4ECA-AC80-87229625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381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530A8-7C96-4363-9753-D5EBC048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rPr>
              <a:t>적절하지 않은 답변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F4446-69DB-4287-B438-324F94B2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573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친구가 짜증을 내거나</a:t>
            </a:r>
          </a:p>
          <a:p xmlns:a="http://schemas.openxmlformats.org/drawingml/2006/main">
            <a:pPr algn="l">
              <a:defRPr sz="22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울고 자리를 피할 수 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08F39-AF76-475A-94F0-D9D5D3BB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4533900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E9E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C3602-0D77-4266-A108-AF6DB630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rPr>
              <a:t>이렇게 말하면 어떨까?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F5364-33B7-45D6-8887-4D5E7264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대안 표현을 보고 다시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A3499-487F-4B8E-9364-D8E3B8BD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부정적 반응은 벌이 아니라</a:t>
            </a:r>
          </a:p>
          <a:p xmlns:a="http://schemas.openxmlformats.org/drawingml/2006/main">
            <a:pPr algn="l">
              <a:defRPr sz="1425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상대의 감정을 이해하는 장면으로 사용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cb7071ed744cc"/>
          <a:stretch xmlns:a="http://schemas.openxmlformats.org/drawingml/2006/main"/>
        </p:blipFill>
        <p:spPr>
          <a:xfrm xmlns:a="http://schemas.openxmlformats.org/drawingml/2006/main">
            <a:off x="3784600" y="3762375"/>
            <a:ext cx="1765300" cy="2647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9312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5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17FFB7-1CFA-4885-9802-21E161BF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세 번 이상 이어지는 대화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A5157-3F16-491E-9C75-B6BCCA8B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25D73-3DCD-44A7-920C-364626FA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8F2C3-F53D-4966-9D8D-148B0468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한 번 고르고 끝나는 문제가 아니라 관계가 변하는 과정을 연습한다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E2ECB-9B8D-4D4F-9581-9C85F62B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857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74CB7-3E86-49F2-B33E-12782794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9557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A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06BC7-24B0-443D-826A-06F8025C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03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A6CB0-C2AF-47A2-B0E0-16C44CE2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부탁과 거절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3DE91-5812-40F6-820A-E55F2BE7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“나도 두 개 필요해.</a:t>
            </a:r>
          </a:p>
          <a:p xmlns:a="http://schemas.openxmlformats.org/drawingml/2006/main">
            <a:pPr algn="ctr">
              <a:defRPr sz="135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하나씩 나눠 쓰자.”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129F5-24DC-40F1-ACB9-EDA9060A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9557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D6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444BF-9E18-4052-89A7-90BAEBE9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DB7AD-AF87-469F-A276-D5E54F72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함께 방법 찾기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8DDC1-A697-4F5D-AA2A-E245CCED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862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“어디에 만들까?”</a:t>
            </a:r>
          </a:p>
          <a:p xmlns:a="http://schemas.openxmlformats.org/drawingml/2006/main">
            <a:pPr algn="ctr">
              <a:defRPr sz="135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서로 의견을 말한다.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F550C-A2EE-48D9-89F6-2F22F1CC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9557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9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B49E7-0EBE-4B1E-97EF-5ED609B3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FA3EA-0ED1-4CDC-A0C9-87D52709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실수 뒤 회복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27D7F-CB5F-4F34-A177-AEEC555A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862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탑이 무너지면</a:t>
            </a:r>
          </a:p>
          <a:p xmlns:a="http://schemas.openxmlformats.org/drawingml/2006/main">
            <a:pPr algn="ctr">
              <a:defRPr sz="135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도와주거나 다시 부탁한다.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52DBF4-C1B4-4557-BC09-A3F9F697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150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오답이 나오면 같은 차례에서 다시 선택하고, 관계가 회복된 뒤 다음 차례로 이동</a:t>
            </a:r>
          </a:p>
        </p:txBody>
      </p:sp>
    </p:spTree>
    <p:extLst>
      <p:ext uri="{BB962C8B-B14F-4D97-AF65-F5344CB8AC3E}">
        <p14:creationId xmlns:p14="http://schemas.microsoft.com/office/powerpoint/2010/main" val="8359361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64184-0167-4180-B33A-30CAD9C8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에피소드가 끝난 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8902F-1A06-4800-A8B4-F4E7CB69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FAC02-5476-471C-BFE4-3893AED0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5CE27-787D-439D-B798-9ADA6160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감정 돌아보기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45762-4C6B-4736-B796-99955910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아동이 자신의 느낌과</a:t>
            </a:r>
          </a:p>
          <a:p xmlns:a="http://schemas.openxmlformats.org/drawingml/2006/main">
            <a:pPr algn="l">
              <a:def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현재 감정을 말할 수 있게 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C6C78-AD96-4379-874F-F0355490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02870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5C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76723-9B1F-4849-B8CE-9B7CD0B8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385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786AE-D217-4F05-A850-4A21FFCE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004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지금 기분은 어때?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EAD93-1B77-4126-AFC5-B53D196E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102870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E9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D22AD-5712-4BB2-9D9E-B6B7484D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767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12130-B34E-4CAB-926C-662C5C9A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386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친구가 화냈을 때 어떤 느낌이 들었어?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E807A-CCDB-4A2E-80CB-5D7B1F84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02870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2F7F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F57BD-ECF8-429B-9CA3-FA00968A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149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A89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AA89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A1C73-1F12-4ED2-B61B-2F693717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768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다시 말한다면 어떻게 말하고 싶어?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C4B26-27D6-4219-887B-8196F558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먼저 스스로 생각한 뒤 필요할 때만 “이렇게 말하면 어떨까?” 예시를 확인</a:t>
            </a:r>
          </a:p>
        </p:txBody>
      </p:sp>
    </p:spTree>
    <p:extLst>
      <p:ext uri="{BB962C8B-B14F-4D97-AF65-F5344CB8AC3E}">
        <p14:creationId xmlns:p14="http://schemas.microsoft.com/office/powerpoint/2010/main" val="6638581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C1761F-A85C-45FB-85EC-D7EB30AF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화면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1C685-6FF2-4E38-B8C2-94B7A010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6C1A4-E49D-493D-92B1-31E45F1F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845A9-7CE1-4BD0-8AF1-44F997EC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한 화면에는 하나의 상황과 하나의 질문만 보여준다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2A09A-C0D7-4852-A358-77970D26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E7901-93D6-4901-874A-78D3362D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F2CFF-0B2E-4F01-A0CE-584414FD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시작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67401-A129-4630-AFF2-560F90B3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D51C6-01AC-4DD2-A49C-23634BCC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6225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A1F26-ADF2-4494-B5E8-8BCA2526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8132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친구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C4BD5-198F-4DEA-89C5-67C4C3C7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A89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AA89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91263-1D41-4409-A01C-1310CD05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40622-B562-4ECC-A08F-60416F89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에피소드 소개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8AE5E-75B0-4931-93BB-B77B903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336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B8FBF-A3CB-4B65-B4BB-91158894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6225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33378-C13C-4B61-A6EF-1A575C1A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8132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상황과 답변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A8C03-48B5-41E9-8109-41AEE4B7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676D7-007E-4458-940E-8F221242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1A132-6E9C-4808-A8C9-1FA96228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결과 재연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F0DB82-EDF0-4328-BE25-E41EE165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4337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741BC1-75BE-49B2-9598-2E118DC9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7200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70A3E-B343-457C-AF8E-5128A7A9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9107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도움과 재선택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E9369B-FB52-4990-A7AC-665E92CD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A89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AA89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6883E3-2B60-4DC7-BAFF-C6DBDEEA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752F81-142A-4097-BDC7-3470BEEB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9107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감정 돌아보기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CC7729-8B7B-449F-A335-830C31B1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4337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4AE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E20481-555E-4DB4-B618-8887FA57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7200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8B054-3100-4A29-B864-AB152625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9107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완료 화면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CC5F28-57EC-43E4-B6BE-4254D60D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6718C"/>
                </a:solidFill>
                <a:latin typeface="Malgun Gothic"/>
                <a:ea typeface="Malgun Gothic"/>
                <a:cs typeface="Malgun Gothic"/>
              </a:rPr>
              <a:t>모바일 세로 화면 · 큰 글자 · 큰 선택 버튼 · 갑작스러운 소리와 깜빡임 없음</a:t>
            </a:r>
          </a:p>
        </p:txBody>
      </p:sp>
    </p:spTree>
    <p:extLst>
      <p:ext uri="{BB962C8B-B14F-4D97-AF65-F5344CB8AC3E}">
        <p14:creationId xmlns:p14="http://schemas.microsoft.com/office/powerpoint/2010/main" val="6332829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631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897EF7-F718-4D94-937F-40C58F4D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개발 순서와 완료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889A7-8CCC-41A7-BC1A-13817C77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52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D85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D85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04BA4-9942-4E55-8247-24931303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09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5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6F567-98E3-4E80-972B-3CA23C82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05BA4-B018-4ADE-8B10-AB9269E1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001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기획안 확정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53609-A2A0-41DD-82DF-43CEF2D3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0D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9C0D3"/>
                </a:solidFill>
                <a:latin typeface="Malgun Gothic"/>
                <a:ea typeface="Malgun Gothic"/>
                <a:cs typeface="Malgun Gothic"/>
              </a:rPr>
              <a:t>현재 단계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FE49D-AD14-4B10-8BEF-98BDCDBD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A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D984A-BCDA-40FC-BD06-B40D0428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86C68-DE83-4CF0-9F37-76D38C93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383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PRD 작성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A26A4-251B-4AA0-9C43-041CE6BE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0D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9C0D3"/>
                </a:solidFill>
                <a:latin typeface="Malgun Gothic"/>
                <a:ea typeface="Malgun Gothic"/>
                <a:cs typeface="Malgun Gothic"/>
              </a:rPr>
              <a:t>기능과 화면 명세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AA363-6EC1-499A-BE2E-BD4D412D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A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98A60-F59F-4261-AFDD-727C9845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EA97C-62B9-4CF5-A049-6FEB44F3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765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 개발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5C3F2-FC14-4875-BEE0-87478CB3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0D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9C0D3"/>
                </a:solidFill>
                <a:latin typeface="Malgun Gothic"/>
                <a:ea typeface="Malgun Gothic"/>
                <a:cs typeface="Malgun Gothic"/>
              </a:rPr>
              <a:t>승인된 범위만 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713DF-4F34-4F3C-9A78-1CBF1165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A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3BE1D-A48F-4503-867D-86081CD2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2757C-68F4-4A86-B611-2D1B132E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147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 테스트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C2682-1690-4A78-9FAE-D279F798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0D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9C0D3"/>
                </a:solidFill>
                <a:latin typeface="Malgun Gothic"/>
                <a:ea typeface="Malgun Gothic"/>
                <a:cs typeface="Malgun Gothic"/>
              </a:rPr>
              <a:t>정답·오답·재선택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BB360-CB67-41C1-BB08-8B2D9B19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A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562BB-07AA-419B-970E-10E53D85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93DF5-C076-4B0C-8F51-E7859A63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529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수정과 제출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986C1-2746-42F8-A442-3792E4C8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81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0D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9C0D3"/>
                </a:solidFill>
                <a:latin typeface="Malgun Gothic"/>
                <a:ea typeface="Malgun Gothic"/>
                <a:cs typeface="Malgun Gothic"/>
              </a:rPr>
              <a:t>모바일 화면 검수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2D137-1282-4F5C-AB15-214D34D6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257550" cy="314325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921B1-1250-4770-B832-AA84FD41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7D67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5106B6-DE67-4CD3-B40E-457CA196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476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• 에피소드별 3회 이상 대화</a:t>
            </a:r>
          </a:p>
          <a:p xmlns:a="http://schemas.openxmlformats.org/drawingml/2006/main">
            <a:pPr algn="l">
              <a:defRPr sz="14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• 매 단계 답변 5개</a:t>
            </a:r>
          </a:p>
          <a:p xmlns:a="http://schemas.openxmlformats.org/drawingml/2006/main">
            <a:pPr algn="l">
              <a:defRPr sz="14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• 오답 뒤 도움과 재선택</a:t>
            </a:r>
          </a:p>
          <a:p xmlns:a="http://schemas.openxmlformats.org/drawingml/2006/main">
            <a:pPr algn="l">
              <a:defRPr sz="14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• 감정 질문 3개</a:t>
            </a:r>
          </a:p>
          <a:p xmlns:a="http://schemas.openxmlformats.org/drawingml/2006/main">
            <a:pPr algn="l">
              <a:defRPr sz="14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6314A"/>
                </a:solidFill>
                <a:latin typeface="Malgun Gothic"/>
                <a:ea typeface="Malgun Gothic"/>
                <a:cs typeface="Malgun Gothic"/>
              </a:rPr>
              <a:t>• 360px 모바일 화면 지원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8475CF-9C46-4E76-8C96-E2ABBD83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53050"/>
            <a:ext cx="325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D85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D85E"/>
                </a:solidFill>
                <a:latin typeface="Malgun Gothic"/>
                <a:ea typeface="Malgun Gothic"/>
                <a:cs typeface="Malgun Gothic"/>
              </a:rPr>
              <a:t>PRD를 먼저 확인하고 승인한 뒤 개발을 시작한다</a:t>
            </a:r>
          </a:p>
        </p:txBody>
      </p:sp>
    </p:spTree>
    <p:extLst>
      <p:ext uri="{BB962C8B-B14F-4D97-AF65-F5344CB8AC3E}">
        <p14:creationId xmlns:p14="http://schemas.microsoft.com/office/powerpoint/2010/main" val="1472640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2026-10-06T02:21:17.4240000Z</dcterms:created>
  <dcterms:modified xsi:type="dcterms:W3CDTF">2026-10-06T02:21:17.4250000Z</dcterms:modified>
</coreProperties>
</file>